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6" r:id="rId6"/>
    <p:sldId id="261" r:id="rId7"/>
    <p:sldId id="262" r:id="rId8"/>
    <p:sldId id="263" r:id="rId9"/>
    <p:sldId id="264" r:id="rId10"/>
    <p:sldId id="265" r:id="rId11"/>
    <p:sldId id="260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064C4E-CE5E-D242-AC59-061F4355EFA6}" type="datetimeFigureOut">
              <a:rPr lang="en-US" smtClean="0"/>
              <a:t>10/7/26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13B7EB-5A5A-A049-A084-B3DA76C40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153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13B7EB-5A5A-A049-A084-B3DA76C402F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9633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94360"/>
            <a:ext cx="53035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1FCDEF"/>
                </a:solidFill>
                <a:latin typeface="Aptos"/>
              </a:rPr>
              <a:t>CYBER SECURITY × AI  •  IDEATHON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70432"/>
            <a:ext cx="7315200" cy="6858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4200" b="1" i="0">
                <a:solidFill>
                  <a:srgbClr val="F4F7FC"/>
                </a:solidFill>
                <a:latin typeface="Aptos"/>
              </a:rPr>
              <a:t>SCAMSHIELD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874519"/>
            <a:ext cx="713232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900" b="0" i="0" dirty="0">
                <a:solidFill>
                  <a:srgbClr val="9BABC3"/>
                </a:solidFill>
                <a:latin typeface="Aptos"/>
              </a:rPr>
              <a:t>Offline Scam &amp; Phishing Message Risk Detector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542032"/>
            <a:ext cx="740664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700" b="0" i="1">
                <a:solidFill>
                  <a:srgbClr val="1FCDEF"/>
                </a:solidFill>
                <a:latin typeface="Aptos"/>
              </a:rPr>
              <a:t>“Don’t just detect the scam. Help the user understand it.”</a:t>
            </a:r>
          </a:p>
        </p:txBody>
      </p:sp>
      <p:sp>
        <p:nvSpPr>
          <p:cNvPr id="6" name="Oval 5"/>
          <p:cNvSpPr/>
          <p:nvPr/>
        </p:nvSpPr>
        <p:spPr>
          <a:xfrm>
            <a:off x="8366760" y="1078992"/>
            <a:ext cx="2331720" cy="2331720"/>
          </a:xfrm>
          <a:prstGeom prst="ellipse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714232" y="1426464"/>
            <a:ext cx="1645920" cy="1645920"/>
          </a:xfrm>
          <a:prstGeom prst="ellipse">
            <a:avLst/>
          </a:prstGeom>
          <a:solidFill>
            <a:srgbClr val="126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23376" y="1673352"/>
            <a:ext cx="1627632" cy="10058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4800" b="1" i="0">
                <a:solidFill>
                  <a:srgbClr val="F4F7FC"/>
                </a:solidFill>
                <a:latin typeface="Aptos"/>
              </a:rPr>
              <a:t>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5440680"/>
            <a:ext cx="1508760" cy="347472"/>
          </a:xfrm>
          <a:prstGeom prst="round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5468112"/>
            <a:ext cx="1417319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1FCDEF"/>
                </a:solidFill>
                <a:latin typeface="Aptos"/>
              </a:rPr>
              <a:t>TEAM  LOGIC 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95728" y="5477256"/>
            <a:ext cx="5943600" cy="24006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 i="0" dirty="0">
                <a:solidFill>
                  <a:srgbClr val="9BABC3"/>
                </a:solidFill>
                <a:latin typeface="Aptos"/>
              </a:rPr>
              <a:t>Jayesh Pandey  • </a:t>
            </a:r>
            <a:r>
              <a:rPr lang="en-IN" sz="1200" dirty="0">
                <a:solidFill>
                  <a:srgbClr val="9BABC3"/>
                </a:solidFill>
                <a:latin typeface="Aptos"/>
              </a:rPr>
              <a:t>Mohd </a:t>
            </a:r>
            <a:r>
              <a:rPr lang="en-IN" sz="1200" dirty="0" err="1">
                <a:solidFill>
                  <a:srgbClr val="9BABC3"/>
                </a:solidFill>
                <a:latin typeface="Aptos"/>
              </a:rPr>
              <a:t>Jishan</a:t>
            </a:r>
            <a:r>
              <a:rPr lang="en-IN" sz="1200" dirty="0">
                <a:solidFill>
                  <a:srgbClr val="9BABC3"/>
                </a:solidFill>
                <a:latin typeface="Aptos"/>
              </a:rPr>
              <a:t>  </a:t>
            </a:r>
            <a:r>
              <a:rPr sz="1200" b="0" i="0" dirty="0">
                <a:solidFill>
                  <a:srgbClr val="9BABC3"/>
                </a:solidFill>
                <a:latin typeface="Aptos"/>
              </a:rPr>
              <a:t>• </a:t>
            </a:r>
            <a:r>
              <a:rPr sz="1200" b="0" i="0" dirty="0" err="1">
                <a:solidFill>
                  <a:srgbClr val="9BABC3"/>
                </a:solidFill>
                <a:latin typeface="Aptos"/>
              </a:rPr>
              <a:t>Jitesh</a:t>
            </a:r>
            <a:r>
              <a:rPr lang="en-IN" sz="1200" b="0" i="0" dirty="0">
                <a:solidFill>
                  <a:srgbClr val="9BABC3"/>
                </a:solidFill>
                <a:latin typeface="Aptos"/>
              </a:rPr>
              <a:t> Sharma</a:t>
            </a:r>
            <a:endParaRPr sz="1200" b="0" i="0" dirty="0">
              <a:solidFill>
                <a:srgbClr val="9BABC3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3232" y="5989320"/>
            <a:ext cx="402336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9BABC3"/>
                </a:solidFill>
                <a:latin typeface="Aptos"/>
              </a:rPr>
              <a:t>FIRST-YEAR PROTOTYPE  •  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384048"/>
            <a:ext cx="4114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9BABC3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411480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FCDEF"/>
                </a:solidFill>
                <a:latin typeface="Aptos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900" b="1" i="0">
                <a:solidFill>
                  <a:srgbClr val="F4F7FC"/>
                </a:solidFill>
                <a:latin typeface="Aptos"/>
              </a:rPr>
              <a:t>Scam messages are designed to make people act before they think.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10515600" cy="42062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0" i="0" dirty="0">
                <a:solidFill>
                  <a:srgbClr val="9BABC3"/>
                </a:solidFill>
                <a:latin typeface="Aptos"/>
              </a:rPr>
              <a:t>The message can look ordinary — the pressure is hidden inside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9BABC3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01952"/>
            <a:ext cx="5623560" cy="3246120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32688" y="2148840"/>
            <a:ext cx="2011680" cy="347472"/>
          </a:xfrm>
          <a:prstGeom prst="round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2176272"/>
            <a:ext cx="1920240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1FCDEF"/>
                </a:solidFill>
                <a:latin typeface="Aptos"/>
              </a:rPr>
              <a:t>SMS  •  UNKNOWN SENDER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743200"/>
            <a:ext cx="5074920" cy="5486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F4F7FC"/>
                </a:solidFill>
                <a:latin typeface="Aptos"/>
              </a:rPr>
              <a:t>Your SBI account will be blocked today due to pending KYC.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383280"/>
            <a:ext cx="502920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9BABC3"/>
                </a:solidFill>
                <a:latin typeface="Aptos"/>
              </a:rPr>
              <a:t>Click here to verify OTP and submit documents: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822191"/>
            <a:ext cx="50292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FCDEF"/>
                </a:solidFill>
                <a:latin typeface="Aptos"/>
              </a:rPr>
              <a:t>http://sbi-kyc-update.com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480560"/>
            <a:ext cx="475488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 i="0" dirty="0">
                <a:solidFill>
                  <a:srgbClr val="FF6262"/>
                </a:solidFill>
                <a:latin typeface="Aptos"/>
              </a:rPr>
              <a:t>Looks real. It is a scam.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29400" y="1938528"/>
            <a:ext cx="2286000" cy="1298448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30568" y="2103120"/>
            <a:ext cx="1883664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1FCDEF"/>
                </a:solidFill>
                <a:latin typeface="Aptos"/>
              </a:rPr>
              <a:t>URGENCY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0568" y="2468880"/>
            <a:ext cx="1883664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F4F7FC"/>
                </a:solidFill>
                <a:latin typeface="Aptos"/>
              </a:rPr>
              <a:t>“Do it immediately.”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1938528"/>
            <a:ext cx="2286000" cy="1298448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45168" y="2103120"/>
            <a:ext cx="1883664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FF6262"/>
                </a:solidFill>
                <a:latin typeface="Aptos"/>
              </a:rPr>
              <a:t>THREAT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45168" y="2468880"/>
            <a:ext cx="1883664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F4F7FC"/>
                </a:solidFill>
                <a:latin typeface="Aptos"/>
              </a:rPr>
              <a:t>“Account will be blocked.”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29400" y="3493008"/>
            <a:ext cx="2286000" cy="1298448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30568" y="3657600"/>
            <a:ext cx="1883664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FFBE4E"/>
                </a:solidFill>
                <a:latin typeface="Aptos"/>
              </a:rPr>
              <a:t>FAKE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4023360"/>
            <a:ext cx="1883664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F4F7FC"/>
                </a:solidFill>
                <a:latin typeface="Aptos"/>
              </a:rPr>
              <a:t>“Update your KYC.”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3493008"/>
            <a:ext cx="2286000" cy="1298448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45168" y="3657600"/>
            <a:ext cx="1883664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967AFF"/>
                </a:solidFill>
                <a:latin typeface="Aptos"/>
              </a:rPr>
              <a:t>REWARD BAIT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45168" y="4023360"/>
            <a:ext cx="1883664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F4F7FC"/>
                </a:solidFill>
                <a:latin typeface="Aptos"/>
              </a:rPr>
              <a:t>“Congratulations! You won.”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510528"/>
            <a:ext cx="77724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50" b="0" i="0">
                <a:solidFill>
                  <a:srgbClr val="9BABC3"/>
                </a:solidFill>
                <a:latin typeface="Aptos"/>
              </a:rPr>
              <a:t>SCAMSHIELD  •  LOGIC X  •  CYBER SECURITY ×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411480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FCDEF"/>
                </a:solidFill>
                <a:latin typeface="Aptos"/>
              </a:rPr>
              <a:t>WHO NEEDS 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900" b="1" i="0">
                <a:solidFill>
                  <a:srgbClr val="F4F7FC"/>
                </a:solidFill>
                <a:latin typeface="Aptos"/>
              </a:rPr>
              <a:t>Cyber-security knowledge is not equally distributed.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9BABC3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246120" cy="2148840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2176272"/>
            <a:ext cx="2843784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1FCDEF"/>
                </a:solidFill>
                <a:latin typeface="Aptos"/>
              </a:rPr>
              <a:t>SENIOR CITIZENS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542032"/>
            <a:ext cx="2843784" cy="1490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600" b="0" i="0">
                <a:solidFill>
                  <a:srgbClr val="F4F7FC"/>
                </a:solidFill>
                <a:latin typeface="Aptos"/>
              </a:rPr>
              <a:t>Fake KYC alerts, phishing links and payment scams can look genuine.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011680"/>
            <a:ext cx="3246120" cy="2148840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98848" y="2176272"/>
            <a:ext cx="2843784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FFBE4E"/>
                </a:solidFill>
                <a:latin typeface="Aptos"/>
              </a:rPr>
              <a:t>NON-TECHNICAL 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8" y="2542032"/>
            <a:ext cx="2843784" cy="1490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600" b="0" i="0">
                <a:solidFill>
                  <a:srgbClr val="F4F7FC"/>
                </a:solidFill>
                <a:latin typeface="Aptos"/>
              </a:rPr>
              <a:t>A convincing message may hide the warning signs in normal-looking language.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2011680"/>
            <a:ext cx="3246120" cy="2148840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65008" y="2176272"/>
            <a:ext cx="2843784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44D697"/>
                </a:solidFill>
                <a:latin typeface="Aptos"/>
              </a:rPr>
              <a:t>OUR GOAL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65008" y="2542032"/>
            <a:ext cx="2843784" cy="1490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600" b="0" i="0">
                <a:solidFill>
                  <a:srgbClr val="F4F7FC"/>
                </a:solidFill>
                <a:latin typeface="Aptos"/>
              </a:rPr>
              <a:t>Let the software do the first scan — then explain why the message looks risky.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617720"/>
            <a:ext cx="10378440" cy="868680"/>
          </a:xfrm>
          <a:prstGeom prst="round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4828032"/>
            <a:ext cx="98298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800" b="1" i="0">
                <a:solidFill>
                  <a:srgbClr val="F4F7FC"/>
                </a:solidFill>
                <a:latin typeface="Aptos"/>
              </a:rPr>
              <a:t>The user does NOT need to become a cyber-security expert.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510528"/>
            <a:ext cx="77724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50" b="0" i="0">
                <a:solidFill>
                  <a:srgbClr val="9BABC3"/>
                </a:solidFill>
                <a:latin typeface="Aptos"/>
              </a:rPr>
              <a:t>SCAMSHIELD  •  LOGIC X  •  CYBER SECURITY ×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411480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FCDEF"/>
                </a:solidFill>
                <a:latin typeface="Aptos"/>
              </a:rPr>
              <a:t>OUR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900" b="1" i="0">
                <a:solidFill>
                  <a:srgbClr val="F4F7FC"/>
                </a:solidFill>
                <a:latin typeface="Aptos"/>
              </a:rPr>
              <a:t>Let the software question the message before the user does.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07592"/>
            <a:ext cx="10515600" cy="42062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9BABC3"/>
                </a:solidFill>
                <a:latin typeface="Aptos"/>
              </a:rPr>
              <a:t>Simple input. Local analysis. An explainable verdict.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9BABC3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1920240" cy="1828800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331720"/>
            <a:ext cx="45720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FCDE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88920"/>
            <a:ext cx="155448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F4F7FC"/>
                </a:solidFill>
                <a:latin typeface="Aptos"/>
              </a:rPr>
              <a:t>PASTE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246120"/>
            <a:ext cx="155448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9BABC3"/>
                </a:solidFill>
                <a:latin typeface="Aptos"/>
              </a:rPr>
              <a:t>Complete message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24328" y="2743200"/>
            <a:ext cx="32004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2000" b="1" i="0">
                <a:solidFill>
                  <a:srgbClr val="1FCDEF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2148840"/>
            <a:ext cx="1920240" cy="1828800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08960" y="2331720"/>
            <a:ext cx="45720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FCDE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788920"/>
            <a:ext cx="155448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F4F7FC"/>
                </a:solidFill>
                <a:latin typeface="Aptos"/>
              </a:rPr>
              <a:t>SCAN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246120"/>
            <a:ext cx="155448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9BABC3"/>
                </a:solidFill>
                <a:latin typeface="Aptos"/>
              </a:rPr>
              <a:t>Local pattern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4608" y="2743200"/>
            <a:ext cx="32004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2000" b="1" i="0">
                <a:solidFill>
                  <a:srgbClr val="1FCDEF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66360" y="2148840"/>
            <a:ext cx="1920240" cy="1828800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49240" y="2331720"/>
            <a:ext cx="45720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FCDEF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2788920"/>
            <a:ext cx="155448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F4F7FC"/>
                </a:solidFill>
                <a:latin typeface="Aptos"/>
              </a:rPr>
              <a:t>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3246120"/>
            <a:ext cx="155448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9BABC3"/>
                </a:solidFill>
                <a:latin typeface="Aptos"/>
              </a:rPr>
              <a:t>Risk out of 100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04888" y="2743200"/>
            <a:ext cx="32004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2000" b="1" i="0">
                <a:solidFill>
                  <a:srgbClr val="1FCDEF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06640" y="2148840"/>
            <a:ext cx="1920240" cy="1828800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89520" y="2331720"/>
            <a:ext cx="45720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FCDEF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2788920"/>
            <a:ext cx="155448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F4F7FC"/>
                </a:solidFill>
                <a:latin typeface="Aptos"/>
              </a:rPr>
              <a:t>EXPLAIN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3246120"/>
            <a:ext cx="155448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9BABC3"/>
                </a:solidFill>
                <a:latin typeface="Aptos"/>
              </a:rPr>
              <a:t>Detected indicators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45168" y="2743200"/>
            <a:ext cx="32004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2000" b="1" i="0">
                <a:solidFill>
                  <a:srgbClr val="1FCDEF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46920" y="2148840"/>
            <a:ext cx="1920240" cy="1828800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829800" y="2331720"/>
            <a:ext cx="45720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FCDEF"/>
                </a:solidFill>
                <a:latin typeface="Apto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2788920"/>
            <a:ext cx="155448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F4F7FC"/>
                </a:solidFill>
                <a:latin typeface="Aptos"/>
              </a:rPr>
              <a:t>DECIDE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9800" y="3246120"/>
            <a:ext cx="155448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9BABC3"/>
                </a:solidFill>
                <a:latin typeface="Aptos"/>
              </a:rPr>
              <a:t>Safe / Caution / High Risk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4572000"/>
            <a:ext cx="10835640" cy="777240"/>
          </a:xfrm>
          <a:prstGeom prst="round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4800600"/>
            <a:ext cx="1037844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500" b="1" i="0">
                <a:solidFill>
                  <a:srgbClr val="1FCDEF"/>
                </a:solidFill>
                <a:latin typeface="Aptos"/>
              </a:rPr>
              <a:t>INPUT  →  ANALYSIS  →  RISK SCORE  →  EXPLANATION  →  VERDICT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510528"/>
            <a:ext cx="77724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50" b="0" i="0">
                <a:solidFill>
                  <a:srgbClr val="9BABC3"/>
                </a:solidFill>
                <a:latin typeface="Aptos"/>
              </a:rPr>
              <a:t>SCAMSHIELD  •  LOGIC X  •  CYBER SECURITY × 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411480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FCDEF"/>
                </a:solidFill>
                <a:latin typeface="Aptos"/>
              </a:rPr>
              <a:t>PRIVACY BY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900" b="1" i="0">
                <a:solidFill>
                  <a:srgbClr val="F4F7FC"/>
                </a:solidFill>
                <a:latin typeface="Aptos"/>
              </a:rPr>
              <a:t>Your message stays on your device.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07592"/>
            <a:ext cx="10515600" cy="42062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9BABC3"/>
                </a:solidFill>
                <a:latin typeface="Aptos"/>
              </a:rPr>
              <a:t>The prototype is built around local processing instead of sending message content to a remote service.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lang="en-IN" sz="1000" b="0" i="0" dirty="0">
                <a:solidFill>
                  <a:srgbClr val="9BABC3"/>
                </a:solidFill>
                <a:latin typeface="Aptos"/>
              </a:rPr>
              <a:t>05</a:t>
            </a:r>
            <a:endParaRPr sz="1000" b="0" i="0" dirty="0">
              <a:solidFill>
                <a:srgbClr val="9BABC3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2331720" cy="1737360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9659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100" b="1" i="0">
                <a:solidFill>
                  <a:srgbClr val="1FCDEF"/>
                </a:solidFill>
                <a:latin typeface="Aptos"/>
              </a:rPr>
              <a:t>MESSAGE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71800"/>
            <a:ext cx="196596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700" b="1" i="0">
                <a:solidFill>
                  <a:srgbClr val="F4F7FC"/>
                </a:solidFill>
                <a:latin typeface="Aptos"/>
              </a:rPr>
              <a:t>Paste SMS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31920" y="2148840"/>
            <a:ext cx="2331720" cy="1737360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0" y="2423160"/>
            <a:ext cx="19659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100" b="1" i="0">
                <a:solidFill>
                  <a:srgbClr val="44D697"/>
                </a:solidFill>
                <a:latin typeface="Aptos"/>
              </a:rPr>
              <a:t>LOCAL SCANNER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971800"/>
            <a:ext cx="196596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700" b="1" i="0">
                <a:solidFill>
                  <a:srgbClr val="F4F7FC"/>
                </a:solidFill>
                <a:latin typeface="Aptos"/>
              </a:rPr>
              <a:t>Rule analysis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80" y="2148840"/>
            <a:ext cx="2331720" cy="1737360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23760" y="2423160"/>
            <a:ext cx="19659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100" b="1" i="0">
                <a:solidFill>
                  <a:srgbClr val="1FCDEF"/>
                </a:solidFill>
                <a:latin typeface="Aptos"/>
              </a:rPr>
              <a:t>RESULT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2971800"/>
            <a:ext cx="196596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700" b="1" i="0">
                <a:solidFill>
                  <a:srgbClr val="F4F7FC"/>
                </a:solidFill>
                <a:latin typeface="Aptos"/>
              </a:rPr>
              <a:t>Score + reasons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2788920"/>
            <a:ext cx="41148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2200" b="1" i="0">
                <a:solidFill>
                  <a:srgbClr val="1FCDEF"/>
                </a:solidFill>
                <a:latin typeface="Aptos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788920"/>
            <a:ext cx="41148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2200" b="1" i="0">
                <a:solidFill>
                  <a:srgbClr val="1FCDEF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4526280"/>
            <a:ext cx="9921240" cy="868680"/>
          </a:xfrm>
          <a:prstGeom prst="round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80160" y="4791456"/>
            <a:ext cx="95554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300" b="1" i="0">
                <a:solidFill>
                  <a:srgbClr val="1FCDEF"/>
                </a:solidFill>
                <a:latin typeface="Aptos"/>
              </a:rPr>
              <a:t>NO SERVER REQUIRED  •  USEFUL WITHOUT INTERNET  •  PRIVATE MESSAGE CONTENT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510528"/>
            <a:ext cx="77724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50" b="0" i="0">
                <a:solidFill>
                  <a:srgbClr val="9BABC3"/>
                </a:solidFill>
                <a:latin typeface="Aptos"/>
              </a:rPr>
              <a:t>SCAMSHIELD  •  LOGIC X  •  CYBER SECURITY × 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411480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FCDEF"/>
                </a:solidFill>
                <a:latin typeface="Aptos"/>
              </a:rPr>
              <a:t>WHAT THE C PROTOTYPE CHECKS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900" b="1" i="0">
                <a:solidFill>
                  <a:srgbClr val="F4F7FC"/>
                </a:solidFill>
                <a:latin typeface="Aptos"/>
              </a:rPr>
              <a:t>Rule-based, local and explainable.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07592"/>
            <a:ext cx="10515600" cy="42062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9BABC3"/>
                </a:solidFill>
                <a:latin typeface="Aptos"/>
              </a:rPr>
              <a:t>Each category contributes warning signals to the risk score.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9BABC3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3383280" cy="1572768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2130552"/>
            <a:ext cx="2980944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1FCDEF"/>
                </a:solidFill>
                <a:latin typeface="Aptos"/>
              </a:rPr>
              <a:t>URGENCY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96312"/>
            <a:ext cx="2980944" cy="9144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F4F7FC"/>
                </a:solidFill>
                <a:latin typeface="Aptos"/>
              </a:rPr>
              <a:t>urgent • immediately • tonight • final warning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965960"/>
            <a:ext cx="3383280" cy="1572768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36007" y="2130552"/>
            <a:ext cx="2980944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FF6262"/>
                </a:solidFill>
                <a:latin typeface="Aptos"/>
              </a:rPr>
              <a:t>THREATS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2496312"/>
            <a:ext cx="2980944" cy="9144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F4F7FC"/>
                </a:solidFill>
                <a:latin typeface="Aptos"/>
              </a:rPr>
              <a:t>blocked • suspended • disconnected • disabled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965960"/>
            <a:ext cx="3383280" cy="1572768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39328" y="2130552"/>
            <a:ext cx="2980944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FFBE4E"/>
                </a:solidFill>
                <a:latin typeface="Aptos"/>
              </a:rPr>
              <a:t>KYC / OTP / SECRETS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9328" y="2496312"/>
            <a:ext cx="2980944" cy="9144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F4F7FC"/>
                </a:solidFill>
                <a:latin typeface="Aptos"/>
              </a:rPr>
              <a:t>KYC • OTP • password • PIN • CVV • verify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31920"/>
            <a:ext cx="3383280" cy="1572768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" y="4096511"/>
            <a:ext cx="2980944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967AFF"/>
                </a:solidFill>
                <a:latin typeface="Aptos"/>
              </a:rPr>
              <a:t>REWARD BAIT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462272"/>
            <a:ext cx="2980944" cy="9144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F4F7FC"/>
                </a:solidFill>
                <a:latin typeface="Aptos"/>
              </a:rPr>
              <a:t>winner • prize • cashback • reward • congratulations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3931920"/>
            <a:ext cx="3383280" cy="1572768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36007" y="4096511"/>
            <a:ext cx="2980944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1FCDEF"/>
                </a:solidFill>
                <a:latin typeface="Aptos"/>
              </a:rPr>
              <a:t>LINKS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36007" y="4462272"/>
            <a:ext cx="2980944" cy="9144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F4F7FC"/>
                </a:solidFill>
                <a:latin typeface="Aptos"/>
              </a:rPr>
              <a:t>http:// • https:// • www. • shortened links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3931920"/>
            <a:ext cx="3383280" cy="1572768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39328" y="4096511"/>
            <a:ext cx="2980944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44D697"/>
                </a:solidFill>
                <a:latin typeface="Aptos"/>
              </a:rPr>
              <a:t>ACTION REQUESTS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8" y="4462272"/>
            <a:ext cx="2980944" cy="9144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F4F7FC"/>
                </a:solidFill>
                <a:latin typeface="Aptos"/>
              </a:rPr>
              <a:t>click • claim • update • submit • pay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510528"/>
            <a:ext cx="77724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50" b="0" i="0">
                <a:solidFill>
                  <a:srgbClr val="9BABC3"/>
                </a:solidFill>
                <a:latin typeface="Aptos"/>
              </a:rPr>
              <a:t>SCAMSHIELD  •  LOGIC X  •  CYBER SECURITY × 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411480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FCDEF"/>
                </a:solidFill>
                <a:latin typeface="Aptos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900" b="1" i="0">
                <a:solidFill>
                  <a:srgbClr val="F4F7FC"/>
                </a:solidFill>
                <a:latin typeface="Aptos"/>
              </a:rPr>
              <a:t>Now let’s run ScamShield for real.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07592"/>
            <a:ext cx="10515600" cy="42062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9BABC3"/>
                </a:solidFill>
                <a:latin typeface="Aptos"/>
              </a:rPr>
              <a:t>The goal: show the same workflow a user would follow on their own computer.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9BABC3"/>
                </a:solidFill>
                <a:latin typeface="Aptos"/>
              </a:rPr>
              <a:t>07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920240"/>
            <a:ext cx="475488" cy="475488"/>
          </a:xfrm>
          <a:prstGeom prst="ellipse">
            <a:avLst/>
          </a:prstGeom>
          <a:solidFill>
            <a:srgbClr val="1FC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38528"/>
            <a:ext cx="475488" cy="365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081120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901952"/>
            <a:ext cx="283464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F4F7FC"/>
                </a:solidFill>
                <a:latin typeface="Aptos"/>
              </a:rPr>
              <a:t>COPY THE C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1901952"/>
            <a:ext cx="640080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9BABC3"/>
                </a:solidFill>
                <a:latin typeface="Aptos"/>
              </a:rPr>
              <a:t>Use the code from our project / GitHub.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880360"/>
            <a:ext cx="475488" cy="475488"/>
          </a:xfrm>
          <a:prstGeom prst="ellipse">
            <a:avLst/>
          </a:prstGeom>
          <a:solidFill>
            <a:srgbClr val="1FC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898648"/>
            <a:ext cx="475488" cy="365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081120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862072"/>
            <a:ext cx="283464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F4F7FC"/>
                </a:solidFill>
                <a:latin typeface="Aptos"/>
              </a:rPr>
              <a:t>OPEN ANY C COMPILER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2862072"/>
            <a:ext cx="640080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9BABC3"/>
                </a:solidFill>
                <a:latin typeface="Aptos"/>
              </a:rPr>
              <a:t>Paste the code and run it.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840480"/>
            <a:ext cx="475488" cy="475488"/>
          </a:xfrm>
          <a:prstGeom prst="ellipse">
            <a:avLst/>
          </a:prstGeom>
          <a:solidFill>
            <a:srgbClr val="1FC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858768"/>
            <a:ext cx="475488" cy="365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081120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822192"/>
            <a:ext cx="283464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F4F7FC"/>
                </a:solidFill>
                <a:latin typeface="Aptos"/>
              </a:rPr>
              <a:t>PASTE THE SMS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3822192"/>
            <a:ext cx="640080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9BABC3"/>
                </a:solidFill>
                <a:latin typeface="Aptos"/>
              </a:rPr>
              <a:t>Copy one example message from our GitHub test set.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4800600"/>
            <a:ext cx="475488" cy="475488"/>
          </a:xfrm>
          <a:prstGeom prst="ellipse">
            <a:avLst/>
          </a:prstGeom>
          <a:solidFill>
            <a:srgbClr val="1FC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4818888"/>
            <a:ext cx="475488" cy="365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081120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782312"/>
            <a:ext cx="283464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F4F7FC"/>
                </a:solidFill>
                <a:latin typeface="Aptos"/>
              </a:rPr>
              <a:t>READ THE 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4782312"/>
            <a:ext cx="640080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9BABC3"/>
                </a:solidFill>
                <a:latin typeface="Aptos"/>
              </a:rPr>
              <a:t>ScamShield prints the risk score + warning signals.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715000"/>
            <a:ext cx="10058400" cy="457200"/>
          </a:xfrm>
          <a:prstGeom prst="round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5824728"/>
            <a:ext cx="969264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1FCDEF"/>
                </a:solidFill>
                <a:latin typeface="Aptos"/>
              </a:rPr>
              <a:t>DEMO SCRIPT  →  code → compiler → run → copy SMS → paste → Enter → 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510528"/>
            <a:ext cx="77724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50" b="0" i="0">
                <a:solidFill>
                  <a:srgbClr val="9BABC3"/>
                </a:solidFill>
                <a:latin typeface="Aptos"/>
              </a:rPr>
              <a:t>SCAMSHIELD  •  LOGIC X  •  CYBER SECURITY × 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411480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FCDEF"/>
                </a:solidFill>
                <a:latin typeface="Aptos"/>
              </a:rPr>
              <a:t>DEMO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900" b="1" i="0">
                <a:solidFill>
                  <a:srgbClr val="F4F7FC"/>
                </a:solidFill>
                <a:latin typeface="Aptos"/>
              </a:rPr>
              <a:t>A message that tries to create panic.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07592"/>
            <a:ext cx="10515600" cy="42062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9BABC3"/>
                </a:solidFill>
                <a:latin typeface="Aptos"/>
              </a:rPr>
              <a:t>Electricity scam example from the test set.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9BABC3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6583680" cy="3520440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32688" y="2103120"/>
            <a:ext cx="1417320" cy="347472"/>
          </a:xfrm>
          <a:prstGeom prst="round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2130551"/>
            <a:ext cx="1325880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1FCDEF"/>
                </a:solidFill>
                <a:latin typeface="Aptos"/>
              </a:rPr>
              <a:t>SCAMSHIELD.C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670048"/>
            <a:ext cx="521208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9BABC3"/>
                </a:solidFill>
                <a:latin typeface="Aptos"/>
              </a:rPr>
              <a:t>&gt; Paste SMS and press 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127248"/>
            <a:ext cx="5989320" cy="4754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F4F7FC"/>
                </a:solidFill>
                <a:latin typeface="Aptos"/>
              </a:rPr>
              <a:t>Your electricity connection will be disconnected tonight at 9:30 PM.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657600"/>
            <a:ext cx="548640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9BABC3"/>
                </a:solidFill>
                <a:latin typeface="Aptos"/>
              </a:rPr>
              <a:t>Immediately update your bill verification: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050791"/>
            <a:ext cx="539496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FCDEF"/>
                </a:solidFill>
                <a:latin typeface="Aptos"/>
              </a:rPr>
              <a:t>http://bit.ly/power-pay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645152"/>
            <a:ext cx="530352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FF6262"/>
                </a:solidFill>
                <a:latin typeface="Aptos"/>
              </a:rPr>
              <a:t>RISK SCORE:  HIGH RISK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1874519"/>
            <a:ext cx="3886200" cy="3520440"/>
          </a:xfrm>
          <a:prstGeom prst="round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18120" y="2194560"/>
            <a:ext cx="29260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FCDEF"/>
                </a:solidFill>
                <a:latin typeface="Aptos"/>
              </a:rPr>
              <a:t>DETECTED SIGNALS</a:t>
            </a:r>
          </a:p>
        </p:txBody>
      </p:sp>
      <p:sp>
        <p:nvSpPr>
          <p:cNvPr id="16" name="Oval 15"/>
          <p:cNvSpPr/>
          <p:nvPr/>
        </p:nvSpPr>
        <p:spPr>
          <a:xfrm>
            <a:off x="7818120" y="2724912"/>
            <a:ext cx="292608" cy="292608"/>
          </a:xfrm>
          <a:prstGeom prst="ellipse">
            <a:avLst/>
          </a:prstGeom>
          <a:solidFill>
            <a:srgbClr val="1FC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18120" y="2729484"/>
            <a:ext cx="292608" cy="2834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2000" b="1" i="0">
                <a:solidFill>
                  <a:srgbClr val="081120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743200"/>
            <a:ext cx="25603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F4F7FC"/>
                </a:solidFill>
                <a:latin typeface="Aptos"/>
              </a:rPr>
              <a:t>Urgency</a:t>
            </a:r>
          </a:p>
        </p:txBody>
      </p:sp>
      <p:sp>
        <p:nvSpPr>
          <p:cNvPr id="19" name="Oval 18"/>
          <p:cNvSpPr/>
          <p:nvPr/>
        </p:nvSpPr>
        <p:spPr>
          <a:xfrm>
            <a:off x="7818120" y="3255264"/>
            <a:ext cx="292608" cy="292608"/>
          </a:xfrm>
          <a:prstGeom prst="ellipse">
            <a:avLst/>
          </a:prstGeom>
          <a:solidFill>
            <a:srgbClr val="1FC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18120" y="3259836"/>
            <a:ext cx="292608" cy="2834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2000" b="1" i="0">
                <a:solidFill>
                  <a:srgbClr val="081120"/>
                </a:solidFill>
                <a:latin typeface="Apto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3273552"/>
            <a:ext cx="25603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F4F7FC"/>
                </a:solidFill>
                <a:latin typeface="Aptos"/>
              </a:rPr>
              <a:t>Threat</a:t>
            </a:r>
          </a:p>
        </p:txBody>
      </p:sp>
      <p:sp>
        <p:nvSpPr>
          <p:cNvPr id="22" name="Oval 21"/>
          <p:cNvSpPr/>
          <p:nvPr/>
        </p:nvSpPr>
        <p:spPr>
          <a:xfrm>
            <a:off x="7818120" y="3785615"/>
            <a:ext cx="292608" cy="292608"/>
          </a:xfrm>
          <a:prstGeom prst="ellipse">
            <a:avLst/>
          </a:prstGeom>
          <a:solidFill>
            <a:srgbClr val="1FC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818120" y="3790187"/>
            <a:ext cx="292608" cy="2834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2000" b="1" i="0">
                <a:solidFill>
                  <a:srgbClr val="081120"/>
                </a:solidFill>
                <a:latin typeface="Apto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3803904"/>
            <a:ext cx="25603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F4F7FC"/>
                </a:solidFill>
                <a:latin typeface="Aptos"/>
              </a:rPr>
              <a:t>Action request</a:t>
            </a:r>
          </a:p>
        </p:txBody>
      </p:sp>
      <p:sp>
        <p:nvSpPr>
          <p:cNvPr id="25" name="Oval 24"/>
          <p:cNvSpPr/>
          <p:nvPr/>
        </p:nvSpPr>
        <p:spPr>
          <a:xfrm>
            <a:off x="7818120" y="4315968"/>
            <a:ext cx="292608" cy="292608"/>
          </a:xfrm>
          <a:prstGeom prst="ellipse">
            <a:avLst/>
          </a:prstGeom>
          <a:solidFill>
            <a:srgbClr val="1FC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18120" y="4320540"/>
            <a:ext cx="292608" cy="2834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2000" b="1" i="0">
                <a:solidFill>
                  <a:srgbClr val="081120"/>
                </a:solidFill>
                <a:latin typeface="Aptos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47888" y="4334256"/>
            <a:ext cx="25603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F4F7FC"/>
                </a:solidFill>
                <a:latin typeface="Aptos"/>
              </a:rPr>
              <a:t>Shortened link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510528"/>
            <a:ext cx="77724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50" b="0" i="0">
                <a:solidFill>
                  <a:srgbClr val="9BABC3"/>
                </a:solidFill>
                <a:latin typeface="Aptos"/>
              </a:rPr>
              <a:t>SCAMSHIELD  •  LOGIC X  •  CYBER SECURITY × AI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411480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FCDEF"/>
                </a:solidFill>
                <a:latin typeface="Aptos"/>
              </a:rPr>
              <a:t>THE CONTEXT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900" b="1" i="0">
                <a:solidFill>
                  <a:srgbClr val="F4F7FC"/>
                </a:solidFill>
                <a:latin typeface="Aptos"/>
              </a:rPr>
              <a:t>Same word. Different meaning.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07592"/>
            <a:ext cx="10515600" cy="42062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9BABC3"/>
                </a:solidFill>
                <a:latin typeface="Aptos"/>
              </a:rPr>
              <a:t>A good scanner must not call every message a scam.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9BABC3"/>
                </a:solidFill>
                <a:latin typeface="Apto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257800" cy="3063240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87552" y="2176272"/>
            <a:ext cx="1005840" cy="347472"/>
          </a:xfrm>
          <a:prstGeom prst="round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33272" y="2203703"/>
            <a:ext cx="914400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44D697"/>
                </a:solidFill>
                <a:latin typeface="Aptos"/>
              </a:rPr>
              <a:t>NORMAL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743200"/>
            <a:ext cx="4617720" cy="10058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600" b="1" i="0" dirty="0">
                <a:solidFill>
                  <a:srgbClr val="F4F7FC"/>
                </a:solidFill>
                <a:latin typeface="Aptos"/>
              </a:rPr>
              <a:t>“Please submit your engineering drawing sheet to the 2nd period lab today. Verify that you have your notebook.”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4251960"/>
            <a:ext cx="384048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44D697"/>
                </a:solidFill>
                <a:latin typeface="Aptos"/>
              </a:rPr>
              <a:t>20 / 100  •  LOW RISK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920240"/>
            <a:ext cx="5257800" cy="3063240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55664" y="2176272"/>
            <a:ext cx="868680" cy="347472"/>
          </a:xfrm>
          <a:prstGeom prst="round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01383" y="2203703"/>
            <a:ext cx="777240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FF6262"/>
                </a:solidFill>
                <a:latin typeface="Aptos"/>
              </a:rPr>
              <a:t>SCAM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2743200"/>
            <a:ext cx="4617720" cy="10058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F4F7FC"/>
                </a:solidFill>
                <a:latin typeface="Aptos"/>
              </a:rPr>
              <a:t>“Your account will be blocked today. Immediately verify KYC and click the link.”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5664" y="4251960"/>
            <a:ext cx="384048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FF6262"/>
                </a:solidFill>
                <a:latin typeface="Aptos"/>
              </a:rPr>
              <a:t>65 / 100  •  HIGH RISK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29000" y="5303520"/>
            <a:ext cx="5349240" cy="594360"/>
          </a:xfrm>
          <a:prstGeom prst="round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11880" y="5458968"/>
            <a:ext cx="49834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1FCDEF"/>
                </a:solidFill>
                <a:latin typeface="Aptos"/>
              </a:rPr>
              <a:t>The word “today” appears in BOTH. Context changes the risk.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510528"/>
            <a:ext cx="77724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50" b="0" i="0">
                <a:solidFill>
                  <a:srgbClr val="9BABC3"/>
                </a:solidFill>
                <a:latin typeface="Aptos"/>
              </a:rPr>
              <a:t>SCAMSHIELD  •  LOGIC X  •  CYBER SECURITY × 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411480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FCDEF"/>
                </a:solidFill>
                <a:latin typeface="Aptos"/>
              </a:rPr>
              <a:t>FALSE-POSITIVE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900" b="1" i="0">
                <a:solidFill>
                  <a:srgbClr val="F4F7FC"/>
                </a:solidFill>
                <a:latin typeface="Aptos"/>
              </a:rPr>
              <a:t>Money words do not automatically mean scam.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07592"/>
            <a:ext cx="10515600" cy="42062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9BABC3"/>
                </a:solidFill>
                <a:latin typeface="Aptos"/>
              </a:rPr>
              <a:t>We also test normal conversations so the prototype does not overreact to words like UPI or pay.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9BABC3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11680"/>
            <a:ext cx="6583680" cy="3108960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24128" y="2286000"/>
            <a:ext cx="1828800" cy="347472"/>
          </a:xfrm>
          <a:prstGeom prst="round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9848" y="2313432"/>
            <a:ext cx="1737360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44D697"/>
                </a:solidFill>
                <a:latin typeface="Aptos"/>
              </a:rPr>
              <a:t>NORMAL FRIEND MESSAGE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834640"/>
            <a:ext cx="5989320" cy="1417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F4F7FC"/>
                </a:solidFill>
                <a:latin typeface="Aptos"/>
              </a:rPr>
              <a:t>“Bro, I paid ₹1,200 for the movie tickets. Your half is ₹600. You can send your share to my UPI ID when you get time. We decided to split it fifty-fifty.”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4572000"/>
            <a:ext cx="274320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44D697"/>
                </a:solidFill>
                <a:latin typeface="Aptos"/>
              </a:rPr>
              <a:t>LOW RISK / NORMAL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2011680"/>
            <a:ext cx="3703320" cy="3108960"/>
          </a:xfrm>
          <a:prstGeom prst="round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36992" y="2286000"/>
            <a:ext cx="9144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FCDEF"/>
                </a:solidFill>
                <a:latin typeface="Aptos"/>
              </a:rPr>
              <a:t>WHY?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36992" y="2743200"/>
            <a:ext cx="2834640" cy="18288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170"/>
              </a:spcAft>
            </a:pPr>
            <a:r>
              <a:rPr sz="1300" b="1">
                <a:solidFill>
                  <a:srgbClr val="1FCDEF"/>
                </a:solidFill>
                <a:latin typeface="Aptos"/>
              </a:rPr>
              <a:t>• </a:t>
            </a:r>
            <a:r>
              <a:rPr sz="1300">
                <a:solidFill>
                  <a:srgbClr val="F4F7FC"/>
                </a:solidFill>
                <a:latin typeface="Aptos"/>
              </a:rPr>
              <a:t>UPI / pay are present</a:t>
            </a:r>
          </a:p>
          <a:p>
            <a:pPr>
              <a:spcAft>
                <a:spcPts val="170"/>
              </a:spcAft>
            </a:pPr>
            <a:r>
              <a:rPr sz="1300" b="1">
                <a:solidFill>
                  <a:srgbClr val="1FCDEF"/>
                </a:solidFill>
                <a:latin typeface="Aptos"/>
              </a:rPr>
              <a:t>• </a:t>
            </a:r>
            <a:r>
              <a:rPr sz="1300">
                <a:solidFill>
                  <a:srgbClr val="F4F7FC"/>
                </a:solidFill>
                <a:latin typeface="Aptos"/>
              </a:rPr>
              <a:t>No threat</a:t>
            </a:r>
          </a:p>
          <a:p>
            <a:pPr>
              <a:spcAft>
                <a:spcPts val="170"/>
              </a:spcAft>
            </a:pPr>
            <a:r>
              <a:rPr sz="1300" b="1">
                <a:solidFill>
                  <a:srgbClr val="1FCDEF"/>
                </a:solidFill>
                <a:latin typeface="Aptos"/>
              </a:rPr>
              <a:t>• </a:t>
            </a:r>
            <a:r>
              <a:rPr sz="1300">
                <a:solidFill>
                  <a:srgbClr val="F4F7FC"/>
                </a:solidFill>
                <a:latin typeface="Aptos"/>
              </a:rPr>
              <a:t>No fake reward</a:t>
            </a:r>
          </a:p>
          <a:p>
            <a:pPr>
              <a:spcAft>
                <a:spcPts val="170"/>
              </a:spcAft>
            </a:pPr>
            <a:r>
              <a:rPr sz="1300" b="1">
                <a:solidFill>
                  <a:srgbClr val="1FCDEF"/>
                </a:solidFill>
                <a:latin typeface="Aptos"/>
              </a:rPr>
              <a:t>• </a:t>
            </a:r>
            <a:r>
              <a:rPr sz="1300">
                <a:solidFill>
                  <a:srgbClr val="F4F7FC"/>
                </a:solidFill>
                <a:latin typeface="Aptos"/>
              </a:rPr>
              <a:t>No suspicious link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510528"/>
            <a:ext cx="77724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50" b="0" i="0">
                <a:solidFill>
                  <a:srgbClr val="9BABC3"/>
                </a:solidFill>
                <a:latin typeface="Aptos"/>
              </a:rPr>
              <a:t>SCAMSHIELD  •  LOGIC X  •  CYBER SECURITY × 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411480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FCDEF"/>
                </a:solidFill>
                <a:latin typeface="Aptos"/>
              </a:rPr>
              <a:t>HOW THE SCORE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900" b="1" i="0">
                <a:solidFill>
                  <a:srgbClr val="F4F7FC"/>
                </a:solidFill>
                <a:latin typeface="Aptos"/>
              </a:rPr>
              <a:t>Why not just show YES / NO?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07592"/>
            <a:ext cx="10515600" cy="42062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9BABC3"/>
                </a:solidFill>
                <a:latin typeface="Aptos"/>
              </a:rPr>
              <a:t>A score gives the user a sense of how many warning signals are present — and the reasons behind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lang="en-IN" sz="1000" b="0" i="0" dirty="0">
                <a:solidFill>
                  <a:srgbClr val="9BABC3"/>
                </a:solidFill>
                <a:latin typeface="Aptos"/>
              </a:rPr>
              <a:t>11</a:t>
            </a:r>
            <a:endParaRPr sz="1000" b="0" i="0" dirty="0">
              <a:solidFill>
                <a:srgbClr val="9BABC3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2057400"/>
            <a:ext cx="4572000" cy="2926080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2377440"/>
            <a:ext cx="15544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FCDEF"/>
                </a:solidFill>
                <a:latin typeface="Aptos"/>
              </a:rPr>
              <a:t>RISK 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88920"/>
            <a:ext cx="2103120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3600" b="1" i="0">
                <a:solidFill>
                  <a:srgbClr val="F4F7FC"/>
                </a:solidFill>
                <a:latin typeface="Aptos"/>
              </a:rPr>
              <a:t>0 — 100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703320"/>
            <a:ext cx="1600200" cy="347472"/>
          </a:xfrm>
          <a:prstGeom prst="round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3730752"/>
            <a:ext cx="1508760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44D697"/>
                </a:solidFill>
                <a:latin typeface="Aptos"/>
              </a:rPr>
              <a:t>0–20  LOW RISK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3703320"/>
            <a:ext cx="1783080" cy="347472"/>
          </a:xfrm>
          <a:prstGeom prst="round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88920" y="3730752"/>
            <a:ext cx="1691639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FFBE4E"/>
                </a:solidFill>
                <a:latin typeface="Aptos"/>
              </a:rPr>
              <a:t>21–59  CAUTION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4187952"/>
            <a:ext cx="2011680" cy="347472"/>
          </a:xfrm>
          <a:prstGeom prst="round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4215384"/>
            <a:ext cx="1920240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FF6262"/>
                </a:solidFill>
                <a:latin typeface="Aptos"/>
              </a:rPr>
              <a:t>60–100  HIGH 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4187952"/>
            <a:ext cx="164592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9BABC3"/>
                </a:solidFill>
                <a:latin typeface="Aptos"/>
              </a:rPr>
              <a:t>The score is explainable: the user can see what triggered 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23560" y="2057400"/>
            <a:ext cx="2651760" cy="1234440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24728" y="2221992"/>
            <a:ext cx="2249424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44D697"/>
                </a:solidFill>
                <a:latin typeface="Aptos"/>
              </a:rPr>
              <a:t>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24728" y="2587752"/>
            <a:ext cx="2249424" cy="5760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F4F7FC"/>
                </a:solidFill>
                <a:latin typeface="Aptos"/>
              </a:rPr>
              <a:t>“Submit your assignment today.”
20 / 100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3920" y="2057400"/>
            <a:ext cx="2651760" cy="1234440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705088" y="2221992"/>
            <a:ext cx="2249424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FF6262"/>
                </a:solidFill>
                <a:latin typeface="Aptos"/>
              </a:rPr>
              <a:t>SCAM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05088" y="2587752"/>
            <a:ext cx="2249424" cy="5760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F4F7FC"/>
                </a:solidFill>
                <a:latin typeface="Aptos"/>
              </a:rPr>
              <a:t>“Account blocked today. Click to verify.”
65 / 100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23560" y="3566160"/>
            <a:ext cx="5532120" cy="1417320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824728" y="3730752"/>
            <a:ext cx="5129783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1FCDEF"/>
                </a:solidFill>
                <a:latin typeface="Aptos"/>
              </a:rPr>
              <a:t>KEY IDEA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24728" y="4096511"/>
            <a:ext cx="5129783" cy="7589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600" b="0" i="0">
                <a:solidFill>
                  <a:srgbClr val="F4F7FC"/>
                </a:solidFill>
                <a:latin typeface="Aptos"/>
              </a:rPr>
              <a:t>A word like “today” is not enough. The surrounding signals matter.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510528"/>
            <a:ext cx="77724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50" b="0" i="0">
                <a:solidFill>
                  <a:srgbClr val="9BABC3"/>
                </a:solidFill>
                <a:latin typeface="Aptos"/>
              </a:rPr>
              <a:t>SCAMSHIELD  •  LOGIC X  •  CYBER SECURITY × AI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411480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FCDEF"/>
                </a:solidFill>
                <a:latin typeface="Aptos"/>
              </a:rPr>
              <a:t>WHERE WE GO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900" b="1" i="0">
                <a:solidFill>
                  <a:srgbClr val="F4F7FC"/>
                </a:solidFill>
                <a:latin typeface="Aptos"/>
              </a:rPr>
              <a:t>From rules → to context-aware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07592"/>
            <a:ext cx="10515600" cy="42062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9BABC3"/>
                </a:solidFill>
                <a:latin typeface="Aptos"/>
              </a:rPr>
              <a:t>We know the current prototype’s limit: rules can miss cleverly written scams.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9BABC3"/>
                </a:solidFill>
                <a:latin typeface="Aptos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5166360" cy="3337560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2130552"/>
            <a:ext cx="4764024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FCDEF"/>
                </a:solidFill>
                <a:latin typeface="Aptos"/>
              </a:rPr>
              <a:t>TODAY — C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96312"/>
            <a:ext cx="4764024" cy="267919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0" i="0">
                <a:solidFill>
                  <a:srgbClr val="F4F7FC"/>
                </a:solidFill>
                <a:latin typeface="Aptos"/>
              </a:rPr>
              <a:t>Keyword + pattern detection
Explainable risk scoring
Fast local execution
Good for proving the concept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65960"/>
            <a:ext cx="5166360" cy="3337560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19088" y="2130552"/>
            <a:ext cx="4764024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967AFF"/>
                </a:solidFill>
                <a:latin typeface="Aptos"/>
              </a:rPr>
              <a:t>FUTURE — SCAMSHIELD 2.0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2496312"/>
            <a:ext cx="4764024" cy="267919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0" i="0">
                <a:solidFill>
                  <a:srgbClr val="F4F7FC"/>
                </a:solidFill>
                <a:latin typeface="Aptos"/>
              </a:rPr>
              <a:t>On-device AI / NLP
Hindi + English + Hinglish
Semantic context &amp; intent
Share → Scan mobile workflow
Suspicious URL intelligence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11680" y="5623560"/>
            <a:ext cx="8138160" cy="457200"/>
          </a:xfrm>
          <a:prstGeom prst="round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148840" y="5742432"/>
            <a:ext cx="786384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100" b="1" i="0">
                <a:solidFill>
                  <a:srgbClr val="1FCDEF"/>
                </a:solidFill>
                <a:latin typeface="Aptos"/>
              </a:rPr>
              <a:t>“today” in a classroom message ≠ “today” in an account-blocking message.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510528"/>
            <a:ext cx="77724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50" b="0" i="0" dirty="0" err="1">
                <a:solidFill>
                  <a:srgbClr val="9BABC3"/>
                </a:solidFill>
                <a:latin typeface="Aptos"/>
              </a:rPr>
              <a:t>SCAMSHIELD</a:t>
            </a:r>
            <a:r>
              <a:rPr sz="850" b="0" i="0" dirty="0">
                <a:solidFill>
                  <a:srgbClr val="9BABC3"/>
                </a:solidFill>
                <a:latin typeface="Aptos"/>
              </a:rPr>
              <a:t>  •  LOGIC X  •  CYBER SECURITY × 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411480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FCDEF"/>
                </a:solidFill>
                <a:latin typeface="Aptos"/>
              </a:rPr>
              <a:t>TEAM LOGIC 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900" b="1" i="0">
                <a:solidFill>
                  <a:srgbClr val="F4F7FC"/>
                </a:solidFill>
                <a:latin typeface="Aptos"/>
              </a:rPr>
              <a:t>One product. Three roles.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07592"/>
            <a:ext cx="10515600" cy="42062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9BABC3"/>
                </a:solidFill>
                <a:latin typeface="Aptos"/>
              </a:rPr>
              <a:t>A first-year prototype built around a clear problem, a working C demo, and a path forward.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9BABC3"/>
                </a:solidFill>
                <a:latin typeface="Aptos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3429000" cy="3200400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2212848"/>
            <a:ext cx="621792" cy="621792"/>
          </a:xfrm>
          <a:prstGeom prst="ellipse">
            <a:avLst/>
          </a:prstGeom>
          <a:solidFill>
            <a:srgbClr val="1FC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313432"/>
            <a:ext cx="621792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500" b="1" i="0">
                <a:solidFill>
                  <a:srgbClr val="081120"/>
                </a:solidFill>
                <a:latin typeface="Aptos"/>
              </a:rPr>
              <a:t>JP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73352" y="2212848"/>
            <a:ext cx="214884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F4F7FC"/>
                </a:solidFill>
                <a:latin typeface="Aptos"/>
              </a:rPr>
              <a:t>JAYESH PANDEY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73352" y="2542032"/>
            <a:ext cx="214884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1FCDEF"/>
                </a:solidFill>
                <a:latin typeface="Aptos"/>
              </a:rPr>
              <a:t>TEAM LEAD • CORE DEVELOPMENT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063240"/>
            <a:ext cx="2788920" cy="1783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120"/>
              </a:spcAft>
            </a:pPr>
            <a:r>
              <a:rPr sz="1100" b="1">
                <a:solidFill>
                  <a:srgbClr val="1FCDEF"/>
                </a:solidFill>
                <a:latin typeface="Aptos"/>
              </a:rPr>
              <a:t>• </a:t>
            </a:r>
            <a:r>
              <a:rPr sz="1100">
                <a:solidFill>
                  <a:srgbClr val="F4F7FC"/>
                </a:solidFill>
                <a:latin typeface="Aptos"/>
              </a:rPr>
              <a:t>C code + message input</a:t>
            </a:r>
          </a:p>
          <a:p>
            <a:pPr>
              <a:spcAft>
                <a:spcPts val="120"/>
              </a:spcAft>
            </a:pPr>
            <a:r>
              <a:rPr sz="1100" b="1">
                <a:solidFill>
                  <a:srgbClr val="1FCDEF"/>
                </a:solidFill>
                <a:latin typeface="Aptos"/>
              </a:rPr>
              <a:t>• </a:t>
            </a:r>
            <a:r>
              <a:rPr sz="1100">
                <a:solidFill>
                  <a:srgbClr val="F4F7FC"/>
                </a:solidFill>
                <a:latin typeface="Aptos"/>
              </a:rPr>
              <a:t>Detection logic + scoring</a:t>
            </a:r>
          </a:p>
          <a:p>
            <a:pPr>
              <a:spcAft>
                <a:spcPts val="120"/>
              </a:spcAft>
            </a:pPr>
            <a:r>
              <a:rPr sz="1100" b="1">
                <a:solidFill>
                  <a:srgbClr val="1FCDEF"/>
                </a:solidFill>
                <a:latin typeface="Aptos"/>
              </a:rPr>
              <a:t>• </a:t>
            </a:r>
            <a:r>
              <a:rPr sz="1100">
                <a:solidFill>
                  <a:srgbClr val="F4F7FC"/>
                </a:solidFill>
                <a:latin typeface="Aptos"/>
              </a:rPr>
              <a:t>Integration, testing + presentation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965960"/>
            <a:ext cx="3429000" cy="3200400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709160" y="2212848"/>
            <a:ext cx="621792" cy="621792"/>
          </a:xfrm>
          <a:prstGeom prst="ellipse">
            <a:avLst/>
          </a:prstGeom>
          <a:solidFill>
            <a:srgbClr val="96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09160" y="2313432"/>
            <a:ext cx="621792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500" b="1" i="0">
                <a:solidFill>
                  <a:srgbClr val="081120"/>
                </a:solidFill>
                <a:latin typeface="Aptos"/>
              </a:rPr>
              <a:t>MJ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68112" y="2212848"/>
            <a:ext cx="2148840" cy="2862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 i="0" dirty="0">
                <a:solidFill>
                  <a:srgbClr val="F4F7FC"/>
                </a:solidFill>
                <a:latin typeface="Aptos"/>
              </a:rPr>
              <a:t>M</a:t>
            </a:r>
            <a:r>
              <a:rPr lang="en-IN" sz="1500" b="1" dirty="0">
                <a:solidFill>
                  <a:srgbClr val="F4F7FC"/>
                </a:solidFill>
                <a:latin typeface="Aptos"/>
              </a:rPr>
              <a:t>OH</a:t>
            </a:r>
            <a:r>
              <a:rPr sz="1500" b="1" i="0" dirty="0">
                <a:solidFill>
                  <a:srgbClr val="F4F7FC"/>
                </a:solidFill>
                <a:latin typeface="Aptos"/>
              </a:rPr>
              <a:t>D JISHAN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68112" y="2542032"/>
            <a:ext cx="214884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967AFF"/>
                </a:solidFill>
                <a:latin typeface="Aptos"/>
              </a:rPr>
              <a:t>DETECTION +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6592" y="3063240"/>
            <a:ext cx="2788920" cy="1783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120"/>
              </a:spcAft>
            </a:pPr>
            <a:r>
              <a:rPr sz="1100" b="1">
                <a:solidFill>
                  <a:srgbClr val="967AFF"/>
                </a:solidFill>
                <a:latin typeface="Aptos"/>
              </a:rPr>
              <a:t>• </a:t>
            </a:r>
            <a:r>
              <a:rPr sz="1100">
                <a:solidFill>
                  <a:srgbClr val="F4F7FC"/>
                </a:solidFill>
                <a:latin typeface="Aptos"/>
              </a:rPr>
              <a:t>Scam pattern research</a:t>
            </a:r>
          </a:p>
          <a:p>
            <a:pPr>
              <a:spcAft>
                <a:spcPts val="120"/>
              </a:spcAft>
            </a:pPr>
            <a:r>
              <a:rPr sz="1100" b="1">
                <a:solidFill>
                  <a:srgbClr val="967AFF"/>
                </a:solidFill>
                <a:latin typeface="Aptos"/>
              </a:rPr>
              <a:t>• </a:t>
            </a:r>
            <a:r>
              <a:rPr sz="1100">
                <a:solidFill>
                  <a:srgbClr val="F4F7FC"/>
                </a:solidFill>
                <a:latin typeface="Aptos"/>
              </a:rPr>
              <a:t>Detection categories</a:t>
            </a:r>
          </a:p>
          <a:p>
            <a:pPr>
              <a:spcAft>
                <a:spcPts val="120"/>
              </a:spcAft>
            </a:pPr>
            <a:r>
              <a:rPr sz="1100" b="1">
                <a:solidFill>
                  <a:srgbClr val="967AFF"/>
                </a:solidFill>
                <a:latin typeface="Aptos"/>
              </a:rPr>
              <a:t>• </a:t>
            </a:r>
            <a:r>
              <a:rPr sz="1100">
                <a:solidFill>
                  <a:srgbClr val="F4F7FC"/>
                </a:solidFill>
                <a:latin typeface="Aptos"/>
              </a:rPr>
              <a:t>Test cases + false-positive analysis</a:t>
            </a:r>
          </a:p>
          <a:p>
            <a:pPr>
              <a:spcAft>
                <a:spcPts val="120"/>
              </a:spcAft>
            </a:pPr>
            <a:r>
              <a:rPr sz="1100" b="1">
                <a:solidFill>
                  <a:srgbClr val="967AFF"/>
                </a:solidFill>
                <a:latin typeface="Aptos"/>
              </a:rPr>
              <a:t>• </a:t>
            </a:r>
            <a:r>
              <a:rPr sz="1100">
                <a:solidFill>
                  <a:srgbClr val="F4F7FC"/>
                </a:solidFill>
                <a:latin typeface="Aptos"/>
              </a:rPr>
              <a:t>Future NLP / AI approach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1965960"/>
            <a:ext cx="3429000" cy="3200400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Oval 18"/>
          <p:cNvSpPr/>
          <p:nvPr/>
        </p:nvSpPr>
        <p:spPr>
          <a:xfrm>
            <a:off x="8503920" y="2212848"/>
            <a:ext cx="621792" cy="621792"/>
          </a:xfrm>
          <a:prstGeom prst="ellipse">
            <a:avLst/>
          </a:prstGeom>
          <a:solidFill>
            <a:srgbClr val="44D6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03920" y="2313432"/>
            <a:ext cx="621792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500" b="1" i="0">
                <a:solidFill>
                  <a:srgbClr val="081120"/>
                </a:solidFill>
                <a:latin typeface="Aptos"/>
              </a:rPr>
              <a:t>J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62872" y="2212848"/>
            <a:ext cx="2148840" cy="2862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 i="0" dirty="0">
                <a:solidFill>
                  <a:srgbClr val="F4F7FC"/>
                </a:solidFill>
                <a:latin typeface="Aptos"/>
              </a:rPr>
              <a:t>JITESH</a:t>
            </a:r>
            <a:r>
              <a:rPr lang="en-IN" sz="1500" b="1" i="0" dirty="0">
                <a:solidFill>
                  <a:srgbClr val="F4F7FC"/>
                </a:solidFill>
                <a:latin typeface="Aptos"/>
              </a:rPr>
              <a:t> SHARMA </a:t>
            </a:r>
            <a:endParaRPr sz="1500" b="1" i="0" dirty="0">
              <a:solidFill>
                <a:srgbClr val="F4F7FC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262872" y="2542032"/>
            <a:ext cx="214884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44D697"/>
                </a:solidFill>
                <a:latin typeface="Aptos"/>
              </a:rPr>
              <a:t>SECURITY + DEMO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31352" y="3063240"/>
            <a:ext cx="2788920" cy="1783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120"/>
              </a:spcAft>
            </a:pPr>
            <a:r>
              <a:rPr sz="1100" b="1">
                <a:solidFill>
                  <a:srgbClr val="44D697"/>
                </a:solidFill>
                <a:latin typeface="Aptos"/>
              </a:rPr>
              <a:t>• </a:t>
            </a:r>
            <a:r>
              <a:rPr sz="1100">
                <a:solidFill>
                  <a:srgbClr val="F4F7FC"/>
                </a:solidFill>
                <a:latin typeface="Aptos"/>
              </a:rPr>
              <a:t>Cyber-security research</a:t>
            </a:r>
          </a:p>
          <a:p>
            <a:pPr>
              <a:spcAft>
                <a:spcPts val="120"/>
              </a:spcAft>
            </a:pPr>
            <a:r>
              <a:rPr sz="1100" b="1">
                <a:solidFill>
                  <a:srgbClr val="44D697"/>
                </a:solidFill>
                <a:latin typeface="Aptos"/>
              </a:rPr>
              <a:t>• </a:t>
            </a:r>
            <a:r>
              <a:rPr sz="1100">
                <a:solidFill>
                  <a:srgbClr val="F4F7FC"/>
                </a:solidFill>
                <a:latin typeface="Aptos"/>
              </a:rPr>
              <a:t>User vulnerability analysis</a:t>
            </a:r>
          </a:p>
          <a:p>
            <a:pPr>
              <a:spcAft>
                <a:spcPts val="120"/>
              </a:spcAft>
            </a:pPr>
            <a:r>
              <a:rPr sz="1100" b="1">
                <a:solidFill>
                  <a:srgbClr val="44D697"/>
                </a:solidFill>
                <a:latin typeface="Aptos"/>
              </a:rPr>
              <a:t>• </a:t>
            </a:r>
            <a:r>
              <a:rPr sz="1100">
                <a:solidFill>
                  <a:srgbClr val="F4F7FC"/>
                </a:solidFill>
                <a:latin typeface="Aptos"/>
              </a:rPr>
              <a:t>Privacy / offline concept</a:t>
            </a:r>
          </a:p>
          <a:p>
            <a:pPr>
              <a:spcAft>
                <a:spcPts val="120"/>
              </a:spcAft>
            </a:pPr>
            <a:r>
              <a:rPr sz="1100" b="1">
                <a:solidFill>
                  <a:srgbClr val="44D697"/>
                </a:solidFill>
                <a:latin typeface="Aptos"/>
              </a:rPr>
              <a:t>• </a:t>
            </a:r>
            <a:r>
              <a:rPr sz="1100">
                <a:solidFill>
                  <a:srgbClr val="F4F7FC"/>
                </a:solidFill>
                <a:latin typeface="Aptos"/>
              </a:rPr>
              <a:t>Live demo + documentation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532120"/>
            <a:ext cx="45720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1FCDEF"/>
                </a:solidFill>
                <a:latin typeface="Aptos"/>
              </a:rPr>
              <a:t>DON’T JUST DETECT THE SCAM.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897880"/>
            <a:ext cx="530352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F4F7FC"/>
                </a:solidFill>
                <a:latin typeface="Aptos"/>
              </a:rPr>
              <a:t>HELP THE USER UNDERSTAND IT.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5715000"/>
            <a:ext cx="365760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1800" b="1" i="0">
                <a:solidFill>
                  <a:srgbClr val="F4F7FC"/>
                </a:solidFill>
                <a:latin typeface="Aptos"/>
              </a:rPr>
              <a:t>Thank you  •  Questions?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384048"/>
            <a:ext cx="4114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9BABC3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ScamShield — Logic X | Ideathon Presentation</dc:title>
  <dc:subject>Offline Scam &amp; Phishing Message Risk Detector</dc:subject>
  <dc:creator>Logic X</dc:creator>
  <cp:keywords>ScamShield, Cyber Security, C, Ideathon, Logic X</cp:keywords>
  <dc:description>generated using python-pptx</dc:description>
  <cp:lastModifiedBy>Jayesh Pandey</cp:lastModifiedBy>
  <cp:revision>6</cp:revision>
  <dcterms:created xsi:type="dcterms:W3CDTF">2013-01-27T09:14:16Z</dcterms:created>
  <dcterms:modified xsi:type="dcterms:W3CDTF">2026-10-07T09:03:22Z</dcterms:modified>
  <cp:category/>
</cp:coreProperties>
</file>